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comments/comment1.xml" ContentType="application/vnd.openxmlformats-officedocument.presentationml.comments+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2"/>
  </p:notesMasterIdLst>
  <p:sldIdLst>
    <p:sldId id="256" r:id="rId2"/>
    <p:sldId id="257" r:id="rId3"/>
    <p:sldId id="258" r:id="rId4"/>
    <p:sldId id="259" r:id="rId5"/>
    <p:sldId id="260" r:id="rId6"/>
    <p:sldId id="264" r:id="rId7"/>
    <p:sldId id="261" r:id="rId8"/>
    <p:sldId id="262" r:id="rId9"/>
    <p:sldId id="263" r:id="rId10"/>
    <p:sldId id="265"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Dell" initials="D" lastIdx="1" clrIdx="0">
    <p:extLst>
      <p:ext uri="{19B8F6BF-5375-455C-9EA6-DF929625EA0E}">
        <p15:presenceInfo xmlns:p15="http://schemas.microsoft.com/office/powerpoint/2012/main" userId="a5d6078447157f60"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FF7C8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44" autoAdjust="0"/>
    <p:restoredTop sz="94660"/>
  </p:normalViewPr>
  <p:slideViewPr>
    <p:cSldViewPr snapToGrid="0">
      <p:cViewPr varScale="1">
        <p:scale>
          <a:sx n="78" d="100"/>
          <a:sy n="78" d="100"/>
        </p:scale>
        <p:origin x="456"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commentAuthors" Target="commentAuthor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comments/comment1.xml><?xml version="1.0" encoding="utf-8"?>
<p:cmLst xmlns:a="http://schemas.openxmlformats.org/drawingml/2006/main" xmlns:r="http://schemas.openxmlformats.org/officeDocument/2006/relationships" xmlns:p="http://schemas.openxmlformats.org/presentationml/2006/main">
  <p:cm authorId="1" dt="2026-03-05T21:52:21.967" idx="1">
    <p:pos x="10" y="10"/>
    <p:text/>
    <p:extLst>
      <p:ext uri="{C676402C-5697-4E1C-873F-D02D1690AC5C}">
        <p15:threadingInfo xmlns:p15="http://schemas.microsoft.com/office/powerpoint/2012/main" timeZoneBias="-330"/>
      </p:ext>
    </p:extLst>
  </p:cm>
</p: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767CF69-65E6-4631-AC96-6C9813E8D47F}" type="datetimeFigureOut">
              <a:rPr lang="en-US" smtClean="0"/>
              <a:t>3/10/2026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EAFA487-DAC9-436F-A683-F49E74EEAA42}" type="slidenum">
              <a:rPr lang="en-US" smtClean="0"/>
              <a:t>‹#›</a:t>
            </a:fld>
            <a:endParaRPr lang="en-US"/>
          </a:p>
        </p:txBody>
      </p:sp>
    </p:spTree>
    <p:extLst>
      <p:ext uri="{BB962C8B-B14F-4D97-AF65-F5344CB8AC3E}">
        <p14:creationId xmlns:p14="http://schemas.microsoft.com/office/powerpoint/2010/main" val="202412641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Email is an important communication tool used by people and organizations. However, many emails we receive are unwanted or harmful. These emails are called spam. Spam filters help identify and block such emails.</a:t>
            </a:r>
          </a:p>
        </p:txBody>
      </p:sp>
      <p:sp>
        <p:nvSpPr>
          <p:cNvPr id="4" name="Slide Number Placeholder 3"/>
          <p:cNvSpPr>
            <a:spLocks noGrp="1"/>
          </p:cNvSpPr>
          <p:nvPr>
            <p:ph type="sldNum" sz="quarter" idx="10"/>
          </p:nvPr>
        </p:nvSpPr>
        <p:spPr/>
        <p:txBody>
          <a:bodyPr/>
          <a:lstStyle/>
          <a:p>
            <a:fld id="{0EAFA487-DAC9-436F-A683-F49E74EEAA42}" type="slidenum">
              <a:rPr lang="en-US" smtClean="0"/>
              <a:t>2</a:t>
            </a:fld>
            <a:endParaRPr lang="en-US"/>
          </a:p>
        </p:txBody>
      </p:sp>
    </p:spTree>
    <p:extLst>
      <p:ext uri="{BB962C8B-B14F-4D97-AF65-F5344CB8AC3E}">
        <p14:creationId xmlns:p14="http://schemas.microsoft.com/office/powerpoint/2010/main" val="302528743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Spam emails are unwanted messages sent to a large number of users. These emails usually contain advertisements, fake offers, or promotions.</a:t>
            </a:r>
          </a:p>
        </p:txBody>
      </p:sp>
      <p:sp>
        <p:nvSpPr>
          <p:cNvPr id="4" name="Slide Number Placeholder 3"/>
          <p:cNvSpPr>
            <a:spLocks noGrp="1"/>
          </p:cNvSpPr>
          <p:nvPr>
            <p:ph type="sldNum" sz="quarter" idx="10"/>
          </p:nvPr>
        </p:nvSpPr>
        <p:spPr/>
        <p:txBody>
          <a:bodyPr/>
          <a:lstStyle/>
          <a:p>
            <a:fld id="{0EAFA487-DAC9-436F-A683-F49E74EEAA42}" type="slidenum">
              <a:rPr lang="en-US" smtClean="0"/>
              <a:t>3</a:t>
            </a:fld>
            <a:endParaRPr lang="en-US"/>
          </a:p>
        </p:txBody>
      </p:sp>
    </p:spTree>
    <p:extLst>
      <p:ext uri="{BB962C8B-B14F-4D97-AF65-F5344CB8AC3E}">
        <p14:creationId xmlns:p14="http://schemas.microsoft.com/office/powerpoint/2010/main" val="192225716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Spam filtering is important because it protects users from fraud and cyber attacks. It also helps keep inboxes clean and saves time.</a:t>
            </a:r>
          </a:p>
        </p:txBody>
      </p:sp>
      <p:sp>
        <p:nvSpPr>
          <p:cNvPr id="4" name="Slide Number Placeholder 3"/>
          <p:cNvSpPr>
            <a:spLocks noGrp="1"/>
          </p:cNvSpPr>
          <p:nvPr>
            <p:ph type="sldNum" sz="quarter" idx="10"/>
          </p:nvPr>
        </p:nvSpPr>
        <p:spPr/>
        <p:txBody>
          <a:bodyPr/>
          <a:lstStyle/>
          <a:p>
            <a:fld id="{0EAFA487-DAC9-436F-A683-F49E74EEAA42}" type="slidenum">
              <a:rPr lang="en-US" smtClean="0"/>
              <a:t>4</a:t>
            </a:fld>
            <a:endParaRPr lang="en-US"/>
          </a:p>
        </p:txBody>
      </p:sp>
    </p:spTree>
    <p:extLst>
      <p:ext uri="{BB962C8B-B14F-4D97-AF65-F5344CB8AC3E}">
        <p14:creationId xmlns:p14="http://schemas.microsoft.com/office/powerpoint/2010/main" val="420234421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Spam filters work by analyzing email content such as words, links, and sender information. Machine learning models are trained to classify emails as spam or not spam.</a:t>
            </a:r>
          </a:p>
        </p:txBody>
      </p:sp>
      <p:sp>
        <p:nvSpPr>
          <p:cNvPr id="4" name="Slide Number Placeholder 3"/>
          <p:cNvSpPr>
            <a:spLocks noGrp="1"/>
          </p:cNvSpPr>
          <p:nvPr>
            <p:ph type="sldNum" sz="quarter" idx="10"/>
          </p:nvPr>
        </p:nvSpPr>
        <p:spPr/>
        <p:txBody>
          <a:bodyPr/>
          <a:lstStyle/>
          <a:p>
            <a:fld id="{0EAFA487-DAC9-436F-A683-F49E74EEAA42}" type="slidenum">
              <a:rPr lang="en-US" smtClean="0"/>
              <a:t>5</a:t>
            </a:fld>
            <a:endParaRPr lang="en-US"/>
          </a:p>
        </p:txBody>
      </p:sp>
    </p:spTree>
    <p:extLst>
      <p:ext uri="{BB962C8B-B14F-4D97-AF65-F5344CB8AC3E}">
        <p14:creationId xmlns:p14="http://schemas.microsoft.com/office/powerpoint/2010/main" val="411772731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an email is received, the spam filter first analyzes the content of the email such as words, links, and sender information. Then a machine learning model checks whether the email contains suspicious patterns. If it detects spam characteristics, the email goes to the spam folder. Otherwise, it goes to the inbox.</a:t>
            </a:r>
          </a:p>
        </p:txBody>
      </p:sp>
      <p:sp>
        <p:nvSpPr>
          <p:cNvPr id="4" name="Slide Number Placeholder 3"/>
          <p:cNvSpPr>
            <a:spLocks noGrp="1"/>
          </p:cNvSpPr>
          <p:nvPr>
            <p:ph type="sldNum" sz="quarter" idx="10"/>
          </p:nvPr>
        </p:nvSpPr>
        <p:spPr/>
        <p:txBody>
          <a:bodyPr/>
          <a:lstStyle/>
          <a:p>
            <a:fld id="{0EAFA487-DAC9-436F-A683-F49E74EEAA42}" type="slidenum">
              <a:rPr lang="en-US" smtClean="0"/>
              <a:t>6</a:t>
            </a:fld>
            <a:endParaRPr lang="en-US"/>
          </a:p>
        </p:txBody>
      </p:sp>
    </p:spTree>
    <p:extLst>
      <p:ext uri="{BB962C8B-B14F-4D97-AF65-F5344CB8AC3E}">
        <p14:creationId xmlns:p14="http://schemas.microsoft.com/office/powerpoint/2010/main" val="179573361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Several machine learning algorithms can be used to detect spam emails. Some common algorithms include Naive Bayes, Logistic Regression, Decision Trees, and Random Forest.</a:t>
            </a:r>
          </a:p>
        </p:txBody>
      </p:sp>
      <p:sp>
        <p:nvSpPr>
          <p:cNvPr id="4" name="Slide Number Placeholder 3"/>
          <p:cNvSpPr>
            <a:spLocks noGrp="1"/>
          </p:cNvSpPr>
          <p:nvPr>
            <p:ph type="sldNum" sz="quarter" idx="10"/>
          </p:nvPr>
        </p:nvSpPr>
        <p:spPr/>
        <p:txBody>
          <a:bodyPr/>
          <a:lstStyle/>
          <a:p>
            <a:fld id="{0EAFA487-DAC9-436F-A683-F49E74EEAA42}" type="slidenum">
              <a:rPr lang="en-US" smtClean="0"/>
              <a:t>8</a:t>
            </a:fld>
            <a:endParaRPr lang="en-US"/>
          </a:p>
        </p:txBody>
      </p:sp>
    </p:spTree>
    <p:extLst>
      <p:ext uri="{BB962C8B-B14F-4D97-AF65-F5344CB8AC3E}">
        <p14:creationId xmlns:p14="http://schemas.microsoft.com/office/powerpoint/2010/main" val="387097018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Spam filters help protect users from cyber threats and keep inboxes organized. They also improve the overall email experience.</a:t>
            </a:r>
          </a:p>
        </p:txBody>
      </p:sp>
      <p:sp>
        <p:nvSpPr>
          <p:cNvPr id="4" name="Slide Number Placeholder 3"/>
          <p:cNvSpPr>
            <a:spLocks noGrp="1"/>
          </p:cNvSpPr>
          <p:nvPr>
            <p:ph type="sldNum" sz="quarter" idx="10"/>
          </p:nvPr>
        </p:nvSpPr>
        <p:spPr/>
        <p:txBody>
          <a:bodyPr/>
          <a:lstStyle/>
          <a:p>
            <a:fld id="{0EAFA487-DAC9-436F-A683-F49E74EEAA42}" type="slidenum">
              <a:rPr lang="en-US" smtClean="0"/>
              <a:t>9</a:t>
            </a:fld>
            <a:endParaRPr lang="en-US"/>
          </a:p>
        </p:txBody>
      </p:sp>
    </p:spTree>
    <p:extLst>
      <p:ext uri="{BB962C8B-B14F-4D97-AF65-F5344CB8AC3E}">
        <p14:creationId xmlns:p14="http://schemas.microsoft.com/office/powerpoint/2010/main" val="290799395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conclusion, email spam filters play an important role in protecting users from unwanted and harmful messages. Machine learning makes spam detection more accurate and effective.</a:t>
            </a:r>
          </a:p>
        </p:txBody>
      </p:sp>
      <p:sp>
        <p:nvSpPr>
          <p:cNvPr id="4" name="Slide Number Placeholder 3"/>
          <p:cNvSpPr>
            <a:spLocks noGrp="1"/>
          </p:cNvSpPr>
          <p:nvPr>
            <p:ph type="sldNum" sz="quarter" idx="10"/>
          </p:nvPr>
        </p:nvSpPr>
        <p:spPr/>
        <p:txBody>
          <a:bodyPr/>
          <a:lstStyle/>
          <a:p>
            <a:fld id="{0EAFA487-DAC9-436F-A683-F49E74EEAA42}" type="slidenum">
              <a:rPr lang="en-US" smtClean="0"/>
              <a:t>10</a:t>
            </a:fld>
            <a:endParaRPr lang="en-US"/>
          </a:p>
        </p:txBody>
      </p:sp>
    </p:spTree>
    <p:extLst>
      <p:ext uri="{BB962C8B-B14F-4D97-AF65-F5344CB8AC3E}">
        <p14:creationId xmlns:p14="http://schemas.microsoft.com/office/powerpoint/2010/main" val="51372451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B7C0044B-38E5-4596-8F72-862F5E259CC2}" type="datetimeFigureOut">
              <a:rPr lang="en-US" smtClean="0"/>
              <a:t>3/10/2026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7BDEE86-704B-490C-9765-2A692E3932BF}" type="slidenum">
              <a:rPr lang="en-US" smtClean="0"/>
              <a:t>‹#›</a:t>
            </a:fld>
            <a:endParaRPr lang="en-US"/>
          </a:p>
        </p:txBody>
      </p:sp>
    </p:spTree>
    <p:extLst>
      <p:ext uri="{BB962C8B-B14F-4D97-AF65-F5344CB8AC3E}">
        <p14:creationId xmlns:p14="http://schemas.microsoft.com/office/powerpoint/2010/main" val="75810905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7C0044B-38E5-4596-8F72-862F5E259CC2}" type="datetimeFigureOut">
              <a:rPr lang="en-US" smtClean="0"/>
              <a:t>3/10/2026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7BDEE86-704B-490C-9765-2A692E3932BF}" type="slidenum">
              <a:rPr lang="en-US" smtClean="0"/>
              <a:t>‹#›</a:t>
            </a:fld>
            <a:endParaRPr lang="en-US"/>
          </a:p>
        </p:txBody>
      </p:sp>
    </p:spTree>
    <p:extLst>
      <p:ext uri="{BB962C8B-B14F-4D97-AF65-F5344CB8AC3E}">
        <p14:creationId xmlns:p14="http://schemas.microsoft.com/office/powerpoint/2010/main" val="36382944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B7C0044B-38E5-4596-8F72-862F5E259CC2}" type="datetimeFigureOut">
              <a:rPr lang="en-US" smtClean="0"/>
              <a:t>3/10/2026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7BDEE86-704B-490C-9765-2A692E3932BF}" type="slidenum">
              <a:rPr lang="en-US" smtClean="0"/>
              <a:t>‹#›</a:t>
            </a:fld>
            <a:endParaRPr lang="en-US"/>
          </a:p>
        </p:txBody>
      </p:sp>
    </p:spTree>
    <p:extLst>
      <p:ext uri="{BB962C8B-B14F-4D97-AF65-F5344CB8AC3E}">
        <p14:creationId xmlns:p14="http://schemas.microsoft.com/office/powerpoint/2010/main" val="230427875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B7C0044B-38E5-4596-8F72-862F5E259CC2}" type="datetimeFigureOut">
              <a:rPr lang="en-US" smtClean="0"/>
              <a:t>3/10/2026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7BDEE86-704B-490C-9765-2A692E3932BF}" type="slidenum">
              <a:rPr lang="en-US" smtClean="0"/>
              <a:t>‹#›</a:t>
            </a:fld>
            <a:endParaRPr lang="en-US"/>
          </a:p>
        </p:txBody>
      </p:sp>
    </p:spTree>
    <p:extLst>
      <p:ext uri="{BB962C8B-B14F-4D97-AF65-F5344CB8AC3E}">
        <p14:creationId xmlns:p14="http://schemas.microsoft.com/office/powerpoint/2010/main" val="361309753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B7C0044B-38E5-4596-8F72-862F5E259CC2}" type="datetimeFigureOut">
              <a:rPr lang="en-US" smtClean="0"/>
              <a:t>3/10/2026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87BDEE86-704B-490C-9765-2A692E3932BF}" type="slidenum">
              <a:rPr lang="en-US" smtClean="0"/>
              <a:t>‹#›</a:t>
            </a:fld>
            <a:endParaRPr lang="en-US"/>
          </a:p>
        </p:txBody>
      </p:sp>
    </p:spTree>
    <p:extLst>
      <p:ext uri="{BB962C8B-B14F-4D97-AF65-F5344CB8AC3E}">
        <p14:creationId xmlns:p14="http://schemas.microsoft.com/office/powerpoint/2010/main" val="267056862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B7C0044B-38E5-4596-8F72-862F5E259CC2}" type="datetimeFigureOut">
              <a:rPr lang="en-US" smtClean="0"/>
              <a:t>3/10/2026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87BDEE86-704B-490C-9765-2A692E3932BF}" type="slidenum">
              <a:rPr lang="en-US" smtClean="0"/>
              <a:t>‹#›</a:t>
            </a:fld>
            <a:endParaRPr lang="en-US"/>
          </a:p>
        </p:txBody>
      </p:sp>
    </p:spTree>
    <p:extLst>
      <p:ext uri="{BB962C8B-B14F-4D97-AF65-F5344CB8AC3E}">
        <p14:creationId xmlns:p14="http://schemas.microsoft.com/office/powerpoint/2010/main" val="139139073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7C0044B-38E5-4596-8F72-862F5E259CC2}" type="datetimeFigureOut">
              <a:rPr lang="en-US" smtClean="0"/>
              <a:t>3/10/2026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87BDEE86-704B-490C-9765-2A692E3932BF}" type="slidenum">
              <a:rPr lang="en-US" smtClean="0"/>
              <a:t>‹#›</a:t>
            </a:fld>
            <a:endParaRPr lang="en-US"/>
          </a:p>
        </p:txBody>
      </p:sp>
    </p:spTree>
    <p:extLst>
      <p:ext uri="{BB962C8B-B14F-4D97-AF65-F5344CB8AC3E}">
        <p14:creationId xmlns:p14="http://schemas.microsoft.com/office/powerpoint/2010/main" val="99174201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B7C0044B-38E5-4596-8F72-862F5E259CC2}" type="datetimeFigureOut">
              <a:rPr lang="en-US" smtClean="0"/>
              <a:t>3/10/2026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7BDEE86-704B-490C-9765-2A692E3932BF}" type="slidenum">
              <a:rPr lang="en-US" smtClean="0"/>
              <a:t>‹#›</a:t>
            </a:fld>
            <a:endParaRPr lang="en-US"/>
          </a:p>
        </p:txBody>
      </p:sp>
    </p:spTree>
    <p:extLst>
      <p:ext uri="{BB962C8B-B14F-4D97-AF65-F5344CB8AC3E}">
        <p14:creationId xmlns:p14="http://schemas.microsoft.com/office/powerpoint/2010/main" val="140521725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B7C0044B-38E5-4596-8F72-862F5E259CC2}" type="datetimeFigureOut">
              <a:rPr lang="en-US" smtClean="0"/>
              <a:t>3/10/2026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7BDEE86-704B-490C-9765-2A692E3932BF}" type="slidenum">
              <a:rPr lang="en-US" smtClean="0"/>
              <a:t>‹#›</a:t>
            </a:fld>
            <a:endParaRPr lang="en-US"/>
          </a:p>
        </p:txBody>
      </p:sp>
    </p:spTree>
    <p:extLst>
      <p:ext uri="{BB962C8B-B14F-4D97-AF65-F5344CB8AC3E}">
        <p14:creationId xmlns:p14="http://schemas.microsoft.com/office/powerpoint/2010/main" val="276329111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7C0044B-38E5-4596-8F72-862F5E259CC2}" type="datetimeFigureOut">
              <a:rPr lang="en-US" smtClean="0"/>
              <a:t>3/10/2026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7BDEE86-704B-490C-9765-2A692E3932BF}" type="slidenum">
              <a:rPr lang="en-US" smtClean="0"/>
              <a:t>‹#›</a:t>
            </a:fld>
            <a:endParaRPr lang="en-US"/>
          </a:p>
        </p:txBody>
      </p:sp>
    </p:spTree>
    <p:extLst>
      <p:ext uri="{BB962C8B-B14F-4D97-AF65-F5344CB8AC3E}">
        <p14:creationId xmlns:p14="http://schemas.microsoft.com/office/powerpoint/2010/main" val="306786848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7C0044B-38E5-4596-8F72-862F5E259CC2}" type="datetimeFigureOut">
              <a:rPr lang="en-US" smtClean="0"/>
              <a:t>3/10/2026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7BDEE86-704B-490C-9765-2A692E3932BF}" type="slidenum">
              <a:rPr lang="en-US" smtClean="0"/>
              <a:t>‹#›</a:t>
            </a:fld>
            <a:endParaRPr lang="en-US"/>
          </a:p>
        </p:txBody>
      </p:sp>
    </p:spTree>
    <p:extLst>
      <p:ext uri="{BB962C8B-B14F-4D97-AF65-F5344CB8AC3E}">
        <p14:creationId xmlns:p14="http://schemas.microsoft.com/office/powerpoint/2010/main" val="64986237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0">
              <a:schemeClr val="accent3">
                <a:lumMod val="0"/>
                <a:lumOff val="100000"/>
              </a:schemeClr>
            </a:gs>
            <a:gs pos="14000">
              <a:schemeClr val="accent3">
                <a:lumMod val="0"/>
                <a:lumOff val="100000"/>
                <a:alpha val="95000"/>
              </a:schemeClr>
            </a:gs>
            <a:gs pos="100000">
              <a:schemeClr val="accent3">
                <a:lumMod val="100000"/>
              </a:schemeClr>
            </a:gs>
          </a:gsLst>
          <a:path path="circle">
            <a:fillToRect l="100000" t="100000"/>
          </a:path>
          <a:tileRect/>
        </a:gra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7C0044B-38E5-4596-8F72-862F5E259CC2}" type="datetimeFigureOut">
              <a:rPr lang="en-US" smtClean="0"/>
              <a:t>3/10/2026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7BDEE86-704B-490C-9765-2A692E3932BF}" type="slidenum">
              <a:rPr lang="en-US" smtClean="0"/>
              <a:t>‹#›</a:t>
            </a:fld>
            <a:endParaRPr lang="en-US"/>
          </a:p>
        </p:txBody>
      </p:sp>
    </p:spTree>
    <p:extLst>
      <p:ext uri="{BB962C8B-B14F-4D97-AF65-F5344CB8AC3E}">
        <p14:creationId xmlns:p14="http://schemas.microsoft.com/office/powerpoint/2010/main" val="354942564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comments" Target="../comments/commen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6024"/>
            <a:ext cx="6035040" cy="6874023"/>
          </a:xfrm>
          <a:prstGeom prst="rect">
            <a:avLst/>
          </a:prstGeom>
        </p:spPr>
      </p:pic>
      <p:sp>
        <p:nvSpPr>
          <p:cNvPr id="7" name="TextBox 6"/>
          <p:cNvSpPr txBox="1"/>
          <p:nvPr/>
        </p:nvSpPr>
        <p:spPr>
          <a:xfrm>
            <a:off x="9494551" y="558665"/>
            <a:ext cx="2700997" cy="2862322"/>
          </a:xfrm>
          <a:prstGeom prst="rect">
            <a:avLst/>
          </a:prstGeom>
          <a:noFill/>
        </p:spPr>
        <p:txBody>
          <a:bodyPr wrap="square" rtlCol="0">
            <a:spAutoFit/>
          </a:bodyPr>
          <a:lstStyle/>
          <a:p>
            <a:r>
              <a:rPr lang="en-US" sz="6000" dirty="0">
                <a:latin typeface="Bahnschrift Light Condensed" panose="020B0502040204020203" pitchFamily="34" charset="0"/>
              </a:rPr>
              <a:t>Email Spam Filter</a:t>
            </a:r>
          </a:p>
        </p:txBody>
      </p:sp>
      <p:sp>
        <p:nvSpPr>
          <p:cNvPr id="8" name="TextBox 7"/>
          <p:cNvSpPr txBox="1"/>
          <p:nvPr/>
        </p:nvSpPr>
        <p:spPr>
          <a:xfrm>
            <a:off x="6133514" y="4641323"/>
            <a:ext cx="5926681" cy="2031325"/>
          </a:xfrm>
          <a:prstGeom prst="rect">
            <a:avLst/>
          </a:prstGeom>
          <a:noFill/>
        </p:spPr>
        <p:txBody>
          <a:bodyPr wrap="square" rtlCol="0">
            <a:spAutoFit/>
          </a:bodyPr>
          <a:lstStyle/>
          <a:p>
            <a:r>
              <a:rPr lang="en-US" dirty="0"/>
              <a:t>Presented By:</a:t>
            </a:r>
          </a:p>
          <a:p>
            <a:endParaRPr lang="en-US" dirty="0"/>
          </a:p>
          <a:p>
            <a:r>
              <a:rPr lang="en-US" dirty="0"/>
              <a:t>      Name:  R. Purnima</a:t>
            </a:r>
          </a:p>
          <a:p>
            <a:r>
              <a:rPr lang="en-US" dirty="0"/>
              <a:t>      Course: Artificial Intelligent</a:t>
            </a:r>
          </a:p>
          <a:p>
            <a:r>
              <a:rPr lang="en-US" dirty="0"/>
              <a:t>      Subject: Machine Learning</a:t>
            </a:r>
          </a:p>
          <a:p>
            <a:r>
              <a:rPr lang="en-US" dirty="0"/>
              <a:t>      Date     : 06-03-2026</a:t>
            </a:r>
          </a:p>
          <a:p>
            <a:endParaRPr lang="en-US" dirty="0"/>
          </a:p>
        </p:txBody>
      </p:sp>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963275" y="5635020"/>
            <a:ext cx="766763" cy="766763"/>
          </a:xfrm>
          <a:prstGeom prst="rect">
            <a:avLst/>
          </a:prstGeom>
        </p:spPr>
      </p:pic>
    </p:spTree>
    <p:extLst>
      <p:ext uri="{BB962C8B-B14F-4D97-AF65-F5344CB8AC3E}">
        <p14:creationId xmlns:p14="http://schemas.microsoft.com/office/powerpoint/2010/main" val="73038830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536283" y="362997"/>
            <a:ext cx="2053883" cy="523220"/>
          </a:xfrm>
          <a:prstGeom prst="rect">
            <a:avLst/>
          </a:prstGeom>
          <a:noFill/>
        </p:spPr>
        <p:txBody>
          <a:bodyPr wrap="square" rtlCol="0">
            <a:spAutoFit/>
          </a:bodyPr>
          <a:lstStyle/>
          <a:p>
            <a:r>
              <a:rPr lang="en-US" sz="2800" dirty="0"/>
              <a:t>Introduction</a:t>
            </a:r>
          </a:p>
        </p:txBody>
      </p:sp>
      <p:sp>
        <p:nvSpPr>
          <p:cNvPr id="5" name="TextBox 4"/>
          <p:cNvSpPr txBox="1"/>
          <p:nvPr/>
        </p:nvSpPr>
        <p:spPr>
          <a:xfrm>
            <a:off x="745589" y="1032252"/>
            <a:ext cx="10170940" cy="1569660"/>
          </a:xfrm>
          <a:prstGeom prst="rect">
            <a:avLst/>
          </a:prstGeom>
          <a:noFill/>
        </p:spPr>
        <p:txBody>
          <a:bodyPr wrap="square" rtlCol="0">
            <a:spAutoFit/>
          </a:bodyPr>
          <a:lstStyle/>
          <a:p>
            <a:r>
              <a:rPr lang="en-US" sz="2400" b="1" dirty="0"/>
              <a:t>Email Spam Filter</a:t>
            </a:r>
            <a:r>
              <a:rPr lang="en-US" sz="2400" dirty="0"/>
              <a:t> is a system that automatically detects unwanted or harmful emails and moves them to the spam folder.</a:t>
            </a:r>
          </a:p>
          <a:p>
            <a:endParaRPr lang="en-US" sz="2400" dirty="0"/>
          </a:p>
          <a:p>
            <a:r>
              <a:rPr lang="en-US" sz="2400" dirty="0"/>
              <a:t>	</a:t>
            </a:r>
          </a:p>
        </p:txBody>
      </p:sp>
      <p:sp>
        <p:nvSpPr>
          <p:cNvPr id="6" name="TextBox 5"/>
          <p:cNvSpPr txBox="1"/>
          <p:nvPr/>
        </p:nvSpPr>
        <p:spPr>
          <a:xfrm>
            <a:off x="1278829" y="2047914"/>
            <a:ext cx="9748911" cy="1107996"/>
          </a:xfrm>
          <a:prstGeom prst="rect">
            <a:avLst/>
          </a:prstGeom>
          <a:noFill/>
        </p:spPr>
        <p:txBody>
          <a:bodyPr wrap="square" rtlCol="0">
            <a:spAutoFit/>
          </a:bodyPr>
          <a:lstStyle/>
          <a:p>
            <a:pPr marL="342900" indent="-342900">
              <a:buFont typeface="Wingdings" panose="05000000000000000000" pitchFamily="2" charset="2"/>
              <a:buChar char="§"/>
            </a:pPr>
            <a:r>
              <a:rPr lang="en-US" sz="2400" dirty="0"/>
              <a:t>Spam emails include advertisements, scams, and phishing messages.</a:t>
            </a:r>
          </a:p>
          <a:p>
            <a:pPr marL="342900" indent="-342900">
              <a:buFont typeface="Wingdings" panose="05000000000000000000" pitchFamily="2" charset="2"/>
              <a:buChar char="§"/>
            </a:pPr>
            <a:r>
              <a:rPr lang="en-US" sz="2400" dirty="0"/>
              <a:t>Spam filters help protect users from unwanted emails.</a:t>
            </a:r>
          </a:p>
          <a:p>
            <a:endParaRPr lang="en-US" dirty="0"/>
          </a:p>
        </p:txBody>
      </p:sp>
      <p:sp>
        <p:nvSpPr>
          <p:cNvPr id="7" name="TextBox 6"/>
          <p:cNvSpPr txBox="1"/>
          <p:nvPr/>
        </p:nvSpPr>
        <p:spPr>
          <a:xfrm>
            <a:off x="77373" y="6020972"/>
            <a:ext cx="5753686" cy="646331"/>
          </a:xfrm>
          <a:prstGeom prst="rect">
            <a:avLst/>
          </a:prstGeom>
          <a:noFill/>
        </p:spPr>
        <p:txBody>
          <a:bodyPr wrap="square" rtlCol="0">
            <a:spAutoFit/>
          </a:bodyPr>
          <a:lstStyle/>
          <a:p>
            <a:r>
              <a:rPr lang="en-US" dirty="0"/>
              <a:t>Example:</a:t>
            </a:r>
            <a:br>
              <a:rPr lang="en-US" dirty="0"/>
            </a:br>
            <a:r>
              <a:rPr lang="en-US" dirty="0"/>
              <a:t>Emails from unknown senders promoting fake offers.</a:t>
            </a:r>
          </a:p>
        </p:txBody>
      </p:sp>
      <p:pic>
        <p:nvPicPr>
          <p:cNvPr id="8" name="Picture 7"/>
          <p:cNvPicPr/>
          <p:nvPr/>
        </p:nvPicPr>
        <p:blipFill>
          <a:blip r:embed="rId3">
            <a:extLst>
              <a:ext uri="{28A0092B-C50C-407E-A947-70E740481C1C}">
                <a14:useLocalDpi xmlns:a14="http://schemas.microsoft.com/office/drawing/2010/main" val="0"/>
              </a:ext>
            </a:extLst>
          </a:blip>
          <a:stretch>
            <a:fillRect/>
          </a:stretch>
        </p:blipFill>
        <p:spPr>
          <a:xfrm>
            <a:off x="10048875" y="4714875"/>
            <a:ext cx="2143125" cy="2143125"/>
          </a:xfrm>
          <a:prstGeom prst="rect">
            <a:avLst/>
          </a:prstGeom>
          <a:ln>
            <a:noFill/>
          </a:ln>
          <a:effectLst>
            <a:softEdge rad="112500"/>
          </a:effectLst>
        </p:spPr>
      </p:pic>
      <p:sp>
        <p:nvSpPr>
          <p:cNvPr id="2" name="TextBox 1"/>
          <p:cNvSpPr txBox="1"/>
          <p:nvPr/>
        </p:nvSpPr>
        <p:spPr>
          <a:xfrm>
            <a:off x="745589" y="3111113"/>
            <a:ext cx="8769114" cy="1477328"/>
          </a:xfrm>
          <a:prstGeom prst="rect">
            <a:avLst/>
          </a:prstGeom>
          <a:noFill/>
        </p:spPr>
        <p:txBody>
          <a:bodyPr wrap="square" rtlCol="0">
            <a:spAutoFit/>
          </a:bodyPr>
          <a:lstStyle/>
          <a:p>
            <a:r>
              <a:rPr lang="en-US" sz="2400" b="1" dirty="0"/>
              <a:t>Spam Email:</a:t>
            </a:r>
            <a:endParaRPr lang="en-US" sz="2400" dirty="0"/>
          </a:p>
          <a:p>
            <a:r>
              <a:rPr lang="en-US" sz="2400" dirty="0"/>
              <a:t>Spam emails are unwanted messages sent to many people, usually for advertising or promotion.</a:t>
            </a:r>
          </a:p>
          <a:p>
            <a:endParaRPr lang="en-US" dirty="0"/>
          </a:p>
        </p:txBody>
      </p:sp>
      <p:sp>
        <p:nvSpPr>
          <p:cNvPr id="3" name="TextBox 2"/>
          <p:cNvSpPr txBox="1"/>
          <p:nvPr/>
        </p:nvSpPr>
        <p:spPr>
          <a:xfrm>
            <a:off x="745589" y="4497859"/>
            <a:ext cx="8509622" cy="1846659"/>
          </a:xfrm>
          <a:prstGeom prst="rect">
            <a:avLst/>
          </a:prstGeom>
          <a:noFill/>
        </p:spPr>
        <p:txBody>
          <a:bodyPr wrap="square" rtlCol="0">
            <a:spAutoFit/>
          </a:bodyPr>
          <a:lstStyle/>
          <a:p>
            <a:r>
              <a:rPr lang="en-US" sz="2400" b="1" dirty="0"/>
              <a:t>Phishing Email:</a:t>
            </a:r>
            <a:endParaRPr lang="en-US" sz="2400" dirty="0"/>
          </a:p>
          <a:p>
            <a:r>
              <a:rPr lang="en-US" sz="2400" dirty="0"/>
              <a:t>Phishing emails are fake messages that pretend to be from trusted organizations to steal sensitive information such as passwords or bank details.</a:t>
            </a:r>
          </a:p>
          <a:p>
            <a:endParaRPr lang="en-US" dirty="0"/>
          </a:p>
        </p:txBody>
      </p:sp>
    </p:spTree>
    <p:extLst>
      <p:ext uri="{BB962C8B-B14F-4D97-AF65-F5344CB8AC3E}">
        <p14:creationId xmlns:p14="http://schemas.microsoft.com/office/powerpoint/2010/main" val="365284438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534572" y="801858"/>
            <a:ext cx="3334043" cy="523220"/>
          </a:xfrm>
          <a:prstGeom prst="rect">
            <a:avLst/>
          </a:prstGeom>
          <a:noFill/>
        </p:spPr>
        <p:txBody>
          <a:bodyPr wrap="square" rtlCol="0">
            <a:spAutoFit/>
          </a:bodyPr>
          <a:lstStyle/>
          <a:p>
            <a:r>
              <a:rPr lang="en-US" sz="2800" dirty="0"/>
              <a:t>What is Spam Email?</a:t>
            </a:r>
          </a:p>
        </p:txBody>
      </p:sp>
      <p:sp>
        <p:nvSpPr>
          <p:cNvPr id="5" name="TextBox 4"/>
          <p:cNvSpPr txBox="1"/>
          <p:nvPr/>
        </p:nvSpPr>
        <p:spPr>
          <a:xfrm>
            <a:off x="1308295" y="1533378"/>
            <a:ext cx="7216727" cy="461665"/>
          </a:xfrm>
          <a:prstGeom prst="rect">
            <a:avLst/>
          </a:prstGeom>
          <a:noFill/>
        </p:spPr>
        <p:txBody>
          <a:bodyPr wrap="square" rtlCol="0">
            <a:spAutoFit/>
          </a:bodyPr>
          <a:lstStyle/>
          <a:p>
            <a:r>
              <a:rPr lang="en-US" sz="2400" dirty="0"/>
              <a:t>Spam emails are </a:t>
            </a:r>
            <a:r>
              <a:rPr lang="en-US" sz="2400" b="1" dirty="0"/>
              <a:t>unwanted messages sent in bulk</a:t>
            </a:r>
            <a:r>
              <a:rPr lang="en-US" dirty="0"/>
              <a:t>.</a:t>
            </a:r>
          </a:p>
        </p:txBody>
      </p:sp>
      <p:sp>
        <p:nvSpPr>
          <p:cNvPr id="6" name="TextBox 5"/>
          <p:cNvSpPr txBox="1"/>
          <p:nvPr/>
        </p:nvSpPr>
        <p:spPr>
          <a:xfrm>
            <a:off x="1308295" y="2349305"/>
            <a:ext cx="5795889" cy="2215991"/>
          </a:xfrm>
          <a:prstGeom prst="rect">
            <a:avLst/>
          </a:prstGeom>
          <a:noFill/>
        </p:spPr>
        <p:txBody>
          <a:bodyPr wrap="square" rtlCol="0">
            <a:spAutoFit/>
          </a:bodyPr>
          <a:lstStyle/>
          <a:p>
            <a:r>
              <a:rPr lang="en-US" sz="2400" dirty="0"/>
              <a:t>Common types:</a:t>
            </a:r>
          </a:p>
          <a:p>
            <a:r>
              <a:rPr lang="en-US" sz="2400" dirty="0"/>
              <a:t>	Advertisement emails</a:t>
            </a:r>
          </a:p>
          <a:p>
            <a:r>
              <a:rPr lang="en-US" sz="2400" dirty="0"/>
              <a:t>	Fake lottery messages</a:t>
            </a:r>
          </a:p>
          <a:p>
            <a:r>
              <a:rPr lang="en-US" sz="2400" dirty="0"/>
              <a:t>	Phishing emails</a:t>
            </a:r>
          </a:p>
          <a:p>
            <a:r>
              <a:rPr lang="en-US" sz="2400" dirty="0"/>
              <a:t>	Malware links</a:t>
            </a:r>
          </a:p>
          <a:p>
            <a:endParaRPr lang="en-US" dirty="0"/>
          </a:p>
        </p:txBody>
      </p:sp>
      <p:sp>
        <p:nvSpPr>
          <p:cNvPr id="7" name="TextBox 6"/>
          <p:cNvSpPr txBox="1"/>
          <p:nvPr/>
        </p:nvSpPr>
        <p:spPr>
          <a:xfrm>
            <a:off x="351692" y="5697416"/>
            <a:ext cx="6105379" cy="646331"/>
          </a:xfrm>
          <a:prstGeom prst="rect">
            <a:avLst/>
          </a:prstGeom>
          <a:noFill/>
        </p:spPr>
        <p:txBody>
          <a:bodyPr wrap="square" rtlCol="0">
            <a:spAutoFit/>
          </a:bodyPr>
          <a:lstStyle/>
          <a:p>
            <a:r>
              <a:rPr lang="en-US" dirty="0"/>
              <a:t>Example:</a:t>
            </a:r>
            <a:br>
              <a:rPr lang="en-US" dirty="0"/>
            </a:br>
            <a:r>
              <a:rPr lang="en-US" dirty="0"/>
              <a:t>“Congratulations! You won ₹10,00,000. Click here to claim.”</a:t>
            </a:r>
          </a:p>
        </p:txBody>
      </p:sp>
      <p:pic>
        <p:nvPicPr>
          <p:cNvPr id="8" name="Picture 7"/>
          <p:cNvPicPr/>
          <p:nvPr/>
        </p:nvPicPr>
        <p:blipFill>
          <a:blip r:embed="rId3">
            <a:extLst>
              <a:ext uri="{28A0092B-C50C-407E-A947-70E740481C1C}">
                <a14:useLocalDpi xmlns:a14="http://schemas.microsoft.com/office/drawing/2010/main" val="0"/>
              </a:ext>
            </a:extLst>
          </a:blip>
          <a:stretch>
            <a:fillRect/>
          </a:stretch>
        </p:blipFill>
        <p:spPr>
          <a:xfrm>
            <a:off x="10255347" y="5120640"/>
            <a:ext cx="1920319" cy="1715165"/>
          </a:xfrm>
          <a:prstGeom prst="rect">
            <a:avLst/>
          </a:prstGeom>
          <a:ln>
            <a:noFill/>
          </a:ln>
          <a:effectLst>
            <a:softEdge rad="112500"/>
          </a:effectLst>
        </p:spPr>
      </p:pic>
    </p:spTree>
    <p:extLst>
      <p:ext uri="{BB962C8B-B14F-4D97-AF65-F5344CB8AC3E}">
        <p14:creationId xmlns:p14="http://schemas.microsoft.com/office/powerpoint/2010/main" val="220869103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450166" y="661182"/>
            <a:ext cx="6330462" cy="523220"/>
          </a:xfrm>
          <a:prstGeom prst="rect">
            <a:avLst/>
          </a:prstGeom>
          <a:noFill/>
        </p:spPr>
        <p:txBody>
          <a:bodyPr wrap="square" rtlCol="0">
            <a:spAutoFit/>
          </a:bodyPr>
          <a:lstStyle/>
          <a:p>
            <a:r>
              <a:rPr lang="en-US" sz="2800" dirty="0"/>
              <a:t>Why Spam Filtering is Important?</a:t>
            </a:r>
          </a:p>
        </p:txBody>
      </p:sp>
      <p:sp>
        <p:nvSpPr>
          <p:cNvPr id="5" name="TextBox 4"/>
          <p:cNvSpPr txBox="1"/>
          <p:nvPr/>
        </p:nvSpPr>
        <p:spPr>
          <a:xfrm>
            <a:off x="675249" y="1575582"/>
            <a:ext cx="8750105" cy="2585323"/>
          </a:xfrm>
          <a:prstGeom prst="rect">
            <a:avLst/>
          </a:prstGeom>
          <a:noFill/>
        </p:spPr>
        <p:txBody>
          <a:bodyPr wrap="square" rtlCol="0">
            <a:spAutoFit/>
          </a:bodyPr>
          <a:lstStyle/>
          <a:p>
            <a:r>
              <a:rPr lang="en-US" sz="2400" dirty="0"/>
              <a:t>Spam filters help to:</a:t>
            </a:r>
          </a:p>
          <a:p>
            <a:pPr marL="342900" indent="-342900">
              <a:buFont typeface="Wingdings" panose="05000000000000000000" pitchFamily="2" charset="2"/>
              <a:buChar char="§"/>
            </a:pPr>
            <a:r>
              <a:rPr lang="en-US" sz="2400" dirty="0"/>
              <a:t>Reduce unwanted emails</a:t>
            </a:r>
          </a:p>
          <a:p>
            <a:pPr marL="342900" indent="-342900">
              <a:buFont typeface="Wingdings" panose="05000000000000000000" pitchFamily="2" charset="2"/>
              <a:buChar char="§"/>
            </a:pPr>
            <a:r>
              <a:rPr lang="en-US" sz="2400" dirty="0"/>
              <a:t>Protect users from scams</a:t>
            </a:r>
          </a:p>
          <a:p>
            <a:pPr marL="342900" indent="-342900">
              <a:buFont typeface="Wingdings" panose="05000000000000000000" pitchFamily="2" charset="2"/>
              <a:buChar char="§"/>
            </a:pPr>
            <a:r>
              <a:rPr lang="en-US" sz="2400" dirty="0"/>
              <a:t>Save time</a:t>
            </a:r>
          </a:p>
          <a:p>
            <a:pPr marL="342900" indent="-342900">
              <a:buFont typeface="Wingdings" panose="05000000000000000000" pitchFamily="2" charset="2"/>
              <a:buChar char="§"/>
            </a:pPr>
            <a:r>
              <a:rPr lang="en-US" sz="2400" dirty="0"/>
              <a:t>Improve email security</a:t>
            </a:r>
          </a:p>
          <a:p>
            <a:pPr marL="342900" indent="-342900">
              <a:buFont typeface="Wingdings" panose="05000000000000000000" pitchFamily="2" charset="2"/>
              <a:buChar char="§"/>
            </a:pPr>
            <a:r>
              <a:rPr lang="en-US" sz="2400" dirty="0"/>
              <a:t>Without spam filters, inboxes would be filled with useless emails</a:t>
            </a:r>
            <a:r>
              <a:rPr lang="en-US" dirty="0"/>
              <a:t>.</a:t>
            </a:r>
          </a:p>
          <a:p>
            <a:endParaRPr lang="en-US" dirty="0"/>
          </a:p>
        </p:txBody>
      </p:sp>
      <p:pic>
        <p:nvPicPr>
          <p:cNvPr id="6" name="Picture 5"/>
          <p:cNvPicPr/>
          <p:nvPr/>
        </p:nvPicPr>
        <p:blipFill>
          <a:blip r:embed="rId3">
            <a:extLst>
              <a:ext uri="{28A0092B-C50C-407E-A947-70E740481C1C}">
                <a14:useLocalDpi xmlns:a14="http://schemas.microsoft.com/office/drawing/2010/main" val="0"/>
              </a:ext>
            </a:extLst>
          </a:blip>
          <a:stretch>
            <a:fillRect/>
          </a:stretch>
        </p:blipFill>
        <p:spPr>
          <a:xfrm>
            <a:off x="10325685" y="5261317"/>
            <a:ext cx="1875835" cy="1588555"/>
          </a:xfrm>
          <a:prstGeom prst="rect">
            <a:avLst/>
          </a:prstGeom>
          <a:ln>
            <a:noFill/>
          </a:ln>
          <a:effectLst>
            <a:softEdge rad="112500"/>
          </a:effectLst>
        </p:spPr>
      </p:pic>
    </p:spTree>
    <p:extLst>
      <p:ext uri="{BB962C8B-B14F-4D97-AF65-F5344CB8AC3E}">
        <p14:creationId xmlns:p14="http://schemas.microsoft.com/office/powerpoint/2010/main" val="250916529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717452" y="661182"/>
            <a:ext cx="6752493" cy="523220"/>
          </a:xfrm>
          <a:prstGeom prst="rect">
            <a:avLst/>
          </a:prstGeom>
          <a:noFill/>
        </p:spPr>
        <p:txBody>
          <a:bodyPr wrap="square" rtlCol="0">
            <a:spAutoFit/>
          </a:bodyPr>
          <a:lstStyle/>
          <a:p>
            <a:r>
              <a:rPr lang="en-US" sz="2800" dirty="0"/>
              <a:t>How Email Spam Filter Works?</a:t>
            </a:r>
          </a:p>
        </p:txBody>
      </p:sp>
      <p:sp>
        <p:nvSpPr>
          <p:cNvPr id="5" name="TextBox 4"/>
          <p:cNvSpPr txBox="1"/>
          <p:nvPr/>
        </p:nvSpPr>
        <p:spPr>
          <a:xfrm>
            <a:off x="1069145" y="1491175"/>
            <a:ext cx="6133513" cy="461665"/>
          </a:xfrm>
          <a:prstGeom prst="rect">
            <a:avLst/>
          </a:prstGeom>
          <a:noFill/>
        </p:spPr>
        <p:txBody>
          <a:bodyPr wrap="square" rtlCol="0">
            <a:spAutoFit/>
          </a:bodyPr>
          <a:lstStyle/>
          <a:p>
            <a:r>
              <a:rPr lang="en-US" sz="2400" dirty="0"/>
              <a:t>Spam filters use </a:t>
            </a:r>
            <a:r>
              <a:rPr lang="en-US" sz="2400" b="1" dirty="0"/>
              <a:t>Machine Learning algorithms</a:t>
            </a:r>
            <a:r>
              <a:rPr lang="en-US" dirty="0"/>
              <a:t>.</a:t>
            </a:r>
          </a:p>
        </p:txBody>
      </p:sp>
      <p:sp>
        <p:nvSpPr>
          <p:cNvPr id="6" name="TextBox 5"/>
          <p:cNvSpPr txBox="1"/>
          <p:nvPr/>
        </p:nvSpPr>
        <p:spPr>
          <a:xfrm>
            <a:off x="1069145" y="2250831"/>
            <a:ext cx="6724357" cy="2954655"/>
          </a:xfrm>
          <a:prstGeom prst="rect">
            <a:avLst/>
          </a:prstGeom>
          <a:noFill/>
        </p:spPr>
        <p:txBody>
          <a:bodyPr wrap="square" rtlCol="0">
            <a:spAutoFit/>
          </a:bodyPr>
          <a:lstStyle/>
          <a:p>
            <a:r>
              <a:rPr lang="en-US" sz="2400" dirty="0"/>
              <a:t>Steps:</a:t>
            </a:r>
          </a:p>
          <a:p>
            <a:r>
              <a:rPr lang="en-US" sz="2400" dirty="0"/>
              <a:t>     Collect email data</a:t>
            </a:r>
          </a:p>
          <a:p>
            <a:r>
              <a:rPr lang="en-US" sz="2400" dirty="0"/>
              <a:t>     Analyze email content (words, links, sender)</a:t>
            </a:r>
          </a:p>
          <a:p>
            <a:r>
              <a:rPr lang="en-US" sz="2400" dirty="0"/>
              <a:t>     Train a machine learning model</a:t>
            </a:r>
          </a:p>
          <a:p>
            <a:r>
              <a:rPr lang="en-US" sz="2400" dirty="0"/>
              <a:t>     Classify email as:</a:t>
            </a:r>
          </a:p>
          <a:p>
            <a:pPr marL="800100" lvl="1" indent="-342900">
              <a:buFont typeface="Wingdings" panose="05000000000000000000" pitchFamily="2" charset="2"/>
              <a:buChar char="§"/>
            </a:pPr>
            <a:r>
              <a:rPr lang="en-US" sz="2400" b="1" dirty="0"/>
              <a:t>Spam</a:t>
            </a:r>
            <a:endParaRPr lang="en-US" sz="2400" dirty="0"/>
          </a:p>
          <a:p>
            <a:pPr marL="800100" lvl="1" indent="-342900">
              <a:buFont typeface="Wingdings" panose="05000000000000000000" pitchFamily="2" charset="2"/>
              <a:buChar char="§"/>
            </a:pPr>
            <a:r>
              <a:rPr lang="en-US" sz="2400" b="1" dirty="0"/>
              <a:t>Not Spam</a:t>
            </a:r>
            <a:endParaRPr lang="en-US" sz="2400" dirty="0"/>
          </a:p>
          <a:p>
            <a:endParaRPr lang="en-US" dirty="0"/>
          </a:p>
        </p:txBody>
      </p:sp>
      <p:pic>
        <p:nvPicPr>
          <p:cNvPr id="8" name="Picture 7"/>
          <p:cNvPicPr/>
          <p:nvPr/>
        </p:nvPicPr>
        <p:blipFill>
          <a:blip r:embed="rId3">
            <a:extLst>
              <a:ext uri="{28A0092B-C50C-407E-A947-70E740481C1C}">
                <a14:useLocalDpi xmlns:a14="http://schemas.microsoft.com/office/drawing/2010/main" val="0"/>
              </a:ext>
            </a:extLst>
          </a:blip>
          <a:stretch>
            <a:fillRect/>
          </a:stretch>
        </p:blipFill>
        <p:spPr>
          <a:xfrm>
            <a:off x="10325685" y="5261317"/>
            <a:ext cx="1875835" cy="1588555"/>
          </a:xfrm>
          <a:prstGeom prst="rect">
            <a:avLst/>
          </a:prstGeom>
          <a:ln>
            <a:noFill/>
          </a:ln>
          <a:effectLst>
            <a:softEdge rad="112500"/>
          </a:effectLst>
        </p:spPr>
      </p:pic>
    </p:spTree>
    <p:extLst>
      <p:ext uri="{BB962C8B-B14F-4D97-AF65-F5344CB8AC3E}">
        <p14:creationId xmlns:p14="http://schemas.microsoft.com/office/powerpoint/2010/main" val="195377437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548639" y="1226604"/>
            <a:ext cx="4783015" cy="4893647"/>
          </a:xfrm>
          <a:prstGeom prst="rect">
            <a:avLst/>
          </a:prstGeom>
          <a:noFill/>
        </p:spPr>
        <p:txBody>
          <a:bodyPr wrap="square" rtlCol="0">
            <a:spAutoFit/>
          </a:bodyPr>
          <a:lstStyle/>
          <a:p>
            <a:pPr algn="ctr"/>
            <a:r>
              <a:rPr lang="en-US" sz="2400" dirty="0"/>
              <a:t>             Incoming Email</a:t>
            </a:r>
          </a:p>
          <a:p>
            <a:pPr algn="ctr"/>
            <a:r>
              <a:rPr lang="en-US" sz="2400" dirty="0"/>
              <a:t>              ↓</a:t>
            </a:r>
          </a:p>
          <a:p>
            <a:pPr algn="ctr"/>
            <a:r>
              <a:rPr lang="en-US" sz="2400" dirty="0"/>
              <a:t>              Email Received</a:t>
            </a:r>
          </a:p>
          <a:p>
            <a:pPr algn="ctr"/>
            <a:r>
              <a:rPr lang="en-US" sz="2400" dirty="0"/>
              <a:t>              ↓</a:t>
            </a:r>
          </a:p>
          <a:p>
            <a:pPr algn="ctr"/>
            <a:r>
              <a:rPr lang="en-US" sz="2400" dirty="0"/>
              <a:t>              Content Analysis</a:t>
            </a:r>
          </a:p>
          <a:p>
            <a:pPr algn="ctr"/>
            <a:r>
              <a:rPr lang="en-US" sz="2400" dirty="0"/>
              <a:t>              (check words, links, sender)</a:t>
            </a:r>
          </a:p>
          <a:p>
            <a:pPr algn="ctr"/>
            <a:r>
              <a:rPr lang="en-US" sz="2400" dirty="0"/>
              <a:t>              ↓</a:t>
            </a:r>
          </a:p>
          <a:p>
            <a:pPr algn="ctr"/>
            <a:r>
              <a:rPr lang="en-US" sz="2400" dirty="0"/>
              <a:t>                  Machine Learning Model</a:t>
            </a:r>
          </a:p>
          <a:p>
            <a:pPr algn="ctr"/>
            <a:r>
              <a:rPr lang="en-US" sz="2400" dirty="0"/>
              <a:t>             (Spam Detection)</a:t>
            </a:r>
          </a:p>
          <a:p>
            <a:pPr algn="ctr"/>
            <a:r>
              <a:rPr lang="en-US" sz="2400" dirty="0"/>
              <a:t>          ↓        ↓</a:t>
            </a:r>
          </a:p>
          <a:p>
            <a:pPr algn="ctr"/>
            <a:r>
              <a:rPr lang="en-US" sz="2400" dirty="0"/>
              <a:t>                   Spam    Not Spam</a:t>
            </a:r>
          </a:p>
          <a:p>
            <a:pPr algn="ctr"/>
            <a:r>
              <a:rPr lang="en-US" sz="2400" dirty="0"/>
              <a:t>          ↓        ↓</a:t>
            </a:r>
          </a:p>
          <a:p>
            <a:pPr algn="ctr"/>
            <a:r>
              <a:rPr lang="en-US" sz="2400" dirty="0"/>
              <a:t>      Spam Folder   Inbox</a:t>
            </a:r>
          </a:p>
        </p:txBody>
      </p:sp>
      <p:sp>
        <p:nvSpPr>
          <p:cNvPr id="5" name="TextBox 4"/>
          <p:cNvSpPr txBox="1"/>
          <p:nvPr/>
        </p:nvSpPr>
        <p:spPr>
          <a:xfrm>
            <a:off x="548639" y="281353"/>
            <a:ext cx="5838093" cy="523220"/>
          </a:xfrm>
          <a:prstGeom prst="rect">
            <a:avLst/>
          </a:prstGeom>
          <a:noFill/>
        </p:spPr>
        <p:txBody>
          <a:bodyPr wrap="square" rtlCol="0">
            <a:spAutoFit/>
          </a:bodyPr>
          <a:lstStyle/>
          <a:p>
            <a:r>
              <a:rPr lang="en-US" sz="2800" dirty="0"/>
              <a:t>Diagram: How Email Spam Filter Works</a:t>
            </a:r>
          </a:p>
        </p:txBody>
      </p:sp>
      <p:pic>
        <p:nvPicPr>
          <p:cNvPr id="6" name="Picture 5"/>
          <p:cNvPicPr/>
          <p:nvPr/>
        </p:nvPicPr>
        <p:blipFill>
          <a:blip r:embed="rId3">
            <a:extLst>
              <a:ext uri="{28A0092B-C50C-407E-A947-70E740481C1C}">
                <a14:useLocalDpi xmlns:a14="http://schemas.microsoft.com/office/drawing/2010/main" val="0"/>
              </a:ext>
            </a:extLst>
          </a:blip>
          <a:stretch>
            <a:fillRect/>
          </a:stretch>
        </p:blipFill>
        <p:spPr>
          <a:xfrm>
            <a:off x="10325685" y="5261317"/>
            <a:ext cx="1875835" cy="1588555"/>
          </a:xfrm>
          <a:prstGeom prst="rect">
            <a:avLst/>
          </a:prstGeom>
          <a:ln>
            <a:noFill/>
          </a:ln>
          <a:effectLst>
            <a:softEdge rad="112500"/>
          </a:effectLst>
        </p:spPr>
      </p:pic>
    </p:spTree>
    <p:extLst>
      <p:ext uri="{BB962C8B-B14F-4D97-AF65-F5344CB8AC3E}">
        <p14:creationId xmlns:p14="http://schemas.microsoft.com/office/powerpoint/2010/main" val="302469315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829994" y="661182"/>
            <a:ext cx="6414868" cy="4678204"/>
          </a:xfrm>
          <a:prstGeom prst="rect">
            <a:avLst/>
          </a:prstGeom>
          <a:noFill/>
        </p:spPr>
        <p:txBody>
          <a:bodyPr wrap="square" rtlCol="0">
            <a:spAutoFit/>
          </a:bodyPr>
          <a:lstStyle/>
          <a:p>
            <a:r>
              <a:rPr lang="en-US" sz="2800" b="1" dirty="0"/>
              <a:t>Example of Spam Detection</a:t>
            </a:r>
          </a:p>
          <a:p>
            <a:endParaRPr lang="en-US" sz="2800" b="1" dirty="0"/>
          </a:p>
          <a:p>
            <a:r>
              <a:rPr lang="en-US" sz="2800" dirty="0"/>
              <a:t>Machine learning checks words like:</a:t>
            </a:r>
          </a:p>
          <a:p>
            <a:r>
              <a:rPr lang="en-US" sz="2800" dirty="0"/>
              <a:t>	“Free”</a:t>
            </a:r>
          </a:p>
          <a:p>
            <a:r>
              <a:rPr lang="en-US" sz="2800" dirty="0"/>
              <a:t>	“Win money”</a:t>
            </a:r>
          </a:p>
          <a:p>
            <a:r>
              <a:rPr lang="en-US" sz="2800" dirty="0"/>
              <a:t>	“Offer”</a:t>
            </a:r>
          </a:p>
          <a:p>
            <a:r>
              <a:rPr lang="en-US" sz="2800" dirty="0"/>
              <a:t>	“Click here”</a:t>
            </a:r>
          </a:p>
          <a:p>
            <a:endParaRPr lang="en-US" sz="2800" dirty="0"/>
          </a:p>
          <a:p>
            <a:r>
              <a:rPr lang="en-US" sz="2800" dirty="0"/>
              <a:t>If many suspicious words appear, the email is marked as </a:t>
            </a:r>
            <a:r>
              <a:rPr lang="en-US" sz="2800" b="1" dirty="0"/>
              <a:t>spam</a:t>
            </a:r>
            <a:r>
              <a:rPr lang="en-US" sz="2800" dirty="0"/>
              <a:t>.</a:t>
            </a:r>
          </a:p>
          <a:p>
            <a:endParaRPr lang="en-US" dirty="0"/>
          </a:p>
        </p:txBody>
      </p:sp>
      <p:pic>
        <p:nvPicPr>
          <p:cNvPr id="5" name="Picture 4"/>
          <p:cNvPicPr/>
          <p:nvPr/>
        </p:nvPicPr>
        <p:blipFill>
          <a:blip r:embed="rId2">
            <a:extLst>
              <a:ext uri="{28A0092B-C50C-407E-A947-70E740481C1C}">
                <a14:useLocalDpi xmlns:a14="http://schemas.microsoft.com/office/drawing/2010/main" val="0"/>
              </a:ext>
            </a:extLst>
          </a:blip>
          <a:stretch>
            <a:fillRect/>
          </a:stretch>
        </p:blipFill>
        <p:spPr>
          <a:xfrm>
            <a:off x="10325685" y="5261317"/>
            <a:ext cx="1875835" cy="1588555"/>
          </a:xfrm>
          <a:prstGeom prst="rect">
            <a:avLst/>
          </a:prstGeom>
          <a:ln>
            <a:noFill/>
          </a:ln>
          <a:effectLst>
            <a:softEdge rad="112500"/>
          </a:effectLst>
        </p:spPr>
      </p:pic>
    </p:spTree>
    <p:extLst>
      <p:ext uri="{BB962C8B-B14F-4D97-AF65-F5344CB8AC3E}">
        <p14:creationId xmlns:p14="http://schemas.microsoft.com/office/powerpoint/2010/main" val="141810089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492368" y="759655"/>
            <a:ext cx="3165231" cy="523220"/>
          </a:xfrm>
          <a:prstGeom prst="rect">
            <a:avLst/>
          </a:prstGeom>
          <a:noFill/>
        </p:spPr>
        <p:txBody>
          <a:bodyPr wrap="square" rtlCol="0">
            <a:spAutoFit/>
          </a:bodyPr>
          <a:lstStyle/>
          <a:p>
            <a:r>
              <a:rPr lang="en-US" sz="2800" dirty="0"/>
              <a:t>Algorithms Used</a:t>
            </a:r>
          </a:p>
        </p:txBody>
      </p:sp>
      <p:sp>
        <p:nvSpPr>
          <p:cNvPr id="5" name="TextBox 4"/>
          <p:cNvSpPr txBox="1"/>
          <p:nvPr/>
        </p:nvSpPr>
        <p:spPr>
          <a:xfrm>
            <a:off x="1012874" y="1659988"/>
            <a:ext cx="6035040" cy="2585323"/>
          </a:xfrm>
          <a:prstGeom prst="rect">
            <a:avLst/>
          </a:prstGeom>
          <a:noFill/>
        </p:spPr>
        <p:txBody>
          <a:bodyPr wrap="square" rtlCol="0">
            <a:spAutoFit/>
          </a:bodyPr>
          <a:lstStyle/>
          <a:p>
            <a:r>
              <a:rPr lang="en-US" sz="2400" dirty="0"/>
              <a:t>Some common algorithms:</a:t>
            </a:r>
          </a:p>
          <a:p>
            <a:r>
              <a:rPr lang="en-US" sz="2400" dirty="0"/>
              <a:t>     Naive Bayes</a:t>
            </a:r>
          </a:p>
          <a:p>
            <a:r>
              <a:rPr lang="en-US" sz="2400" dirty="0"/>
              <a:t>     Logistic Regression</a:t>
            </a:r>
          </a:p>
          <a:p>
            <a:r>
              <a:rPr lang="en-US" sz="2400" dirty="0"/>
              <a:t>     Decision Tree</a:t>
            </a:r>
          </a:p>
          <a:p>
            <a:r>
              <a:rPr lang="en-US" sz="2400" dirty="0"/>
              <a:t>     Random Forest</a:t>
            </a:r>
          </a:p>
          <a:p>
            <a:r>
              <a:rPr lang="en-US" sz="2400" dirty="0"/>
              <a:t>     These algorithms help classify emails.</a:t>
            </a:r>
          </a:p>
          <a:p>
            <a:endParaRPr lang="en-US" dirty="0"/>
          </a:p>
        </p:txBody>
      </p:sp>
      <p:pic>
        <p:nvPicPr>
          <p:cNvPr id="6" name="Picture 5"/>
          <p:cNvPicPr/>
          <p:nvPr/>
        </p:nvPicPr>
        <p:blipFill>
          <a:blip r:embed="rId3">
            <a:extLst>
              <a:ext uri="{28A0092B-C50C-407E-A947-70E740481C1C}">
                <a14:useLocalDpi xmlns:a14="http://schemas.microsoft.com/office/drawing/2010/main" val="0"/>
              </a:ext>
            </a:extLst>
          </a:blip>
          <a:stretch>
            <a:fillRect/>
          </a:stretch>
        </p:blipFill>
        <p:spPr>
          <a:xfrm>
            <a:off x="10325685" y="5261317"/>
            <a:ext cx="1875835" cy="1588555"/>
          </a:xfrm>
          <a:prstGeom prst="rect">
            <a:avLst/>
          </a:prstGeom>
          <a:ln>
            <a:noFill/>
          </a:ln>
          <a:effectLst>
            <a:softEdge rad="112500"/>
          </a:effectLst>
        </p:spPr>
      </p:pic>
    </p:spTree>
    <p:extLst>
      <p:ext uri="{BB962C8B-B14F-4D97-AF65-F5344CB8AC3E}">
        <p14:creationId xmlns:p14="http://schemas.microsoft.com/office/powerpoint/2010/main" val="291927201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633046" y="450166"/>
            <a:ext cx="2433711" cy="523220"/>
          </a:xfrm>
          <a:prstGeom prst="rect">
            <a:avLst/>
          </a:prstGeom>
          <a:noFill/>
        </p:spPr>
        <p:txBody>
          <a:bodyPr wrap="square" rtlCol="0">
            <a:spAutoFit/>
          </a:bodyPr>
          <a:lstStyle/>
          <a:p>
            <a:r>
              <a:rPr lang="en-US" sz="2800" dirty="0"/>
              <a:t>Advantages</a:t>
            </a:r>
          </a:p>
        </p:txBody>
      </p:sp>
      <p:sp>
        <p:nvSpPr>
          <p:cNvPr id="12" name="Rectangle 5"/>
          <p:cNvSpPr>
            <a:spLocks noChangeArrowheads="1"/>
          </p:cNvSpPr>
          <p:nvPr/>
        </p:nvSpPr>
        <p:spPr bwMode="auto">
          <a:xfrm rot="10800000" flipV="1">
            <a:off x="858128" y="1004237"/>
            <a:ext cx="4417257" cy="15696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rPr>
              <a:t>Protects users from fraud</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rPr>
              <a:t>Keeps inbox clean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rPr>
              <a:t>Saves time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rPr>
              <a:t>Improves security</a:t>
            </a:r>
          </a:p>
        </p:txBody>
      </p:sp>
      <p:sp>
        <p:nvSpPr>
          <p:cNvPr id="13" name="TextBox 12"/>
          <p:cNvSpPr txBox="1"/>
          <p:nvPr/>
        </p:nvSpPr>
        <p:spPr>
          <a:xfrm>
            <a:off x="225082" y="3108960"/>
            <a:ext cx="6597749" cy="1200329"/>
          </a:xfrm>
          <a:prstGeom prst="rect">
            <a:avLst/>
          </a:prstGeom>
          <a:noFill/>
        </p:spPr>
        <p:txBody>
          <a:bodyPr wrap="square" rtlCol="0">
            <a:spAutoFit/>
          </a:bodyPr>
          <a:lstStyle/>
          <a:p>
            <a:r>
              <a:rPr lang="en-US" sz="2400" dirty="0"/>
              <a:t>“Spam filters in email services like Gmail use machine learning models trained on millions of emails to detect spam and phishing attacks.”</a:t>
            </a:r>
          </a:p>
        </p:txBody>
      </p:sp>
      <p:pic>
        <p:nvPicPr>
          <p:cNvPr id="14" name="Picture 13"/>
          <p:cNvPicPr/>
          <p:nvPr/>
        </p:nvPicPr>
        <p:blipFill>
          <a:blip r:embed="rId3">
            <a:extLst>
              <a:ext uri="{28A0092B-C50C-407E-A947-70E740481C1C}">
                <a14:useLocalDpi xmlns:a14="http://schemas.microsoft.com/office/drawing/2010/main" val="0"/>
              </a:ext>
            </a:extLst>
          </a:blip>
          <a:stretch>
            <a:fillRect/>
          </a:stretch>
        </p:blipFill>
        <p:spPr>
          <a:xfrm>
            <a:off x="10325685" y="5261317"/>
            <a:ext cx="1875835" cy="1588555"/>
          </a:xfrm>
          <a:prstGeom prst="rect">
            <a:avLst/>
          </a:prstGeom>
          <a:ln>
            <a:noFill/>
          </a:ln>
          <a:effectLst>
            <a:softEdge rad="112500"/>
          </a:effectLst>
        </p:spPr>
      </p:pic>
    </p:spTree>
    <p:extLst>
      <p:ext uri="{BB962C8B-B14F-4D97-AF65-F5344CB8AC3E}">
        <p14:creationId xmlns:p14="http://schemas.microsoft.com/office/powerpoint/2010/main" val="377468077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1505243" y="1280160"/>
            <a:ext cx="2208628" cy="523220"/>
          </a:xfrm>
          <a:prstGeom prst="rect">
            <a:avLst/>
          </a:prstGeom>
          <a:noFill/>
        </p:spPr>
        <p:txBody>
          <a:bodyPr wrap="square" rtlCol="0">
            <a:spAutoFit/>
          </a:bodyPr>
          <a:lstStyle/>
          <a:p>
            <a:r>
              <a:rPr lang="en-US" sz="2800" dirty="0"/>
              <a:t>Conclusion</a:t>
            </a:r>
          </a:p>
        </p:txBody>
      </p:sp>
      <p:sp>
        <p:nvSpPr>
          <p:cNvPr id="5" name="TextBox 4"/>
          <p:cNvSpPr txBox="1"/>
          <p:nvPr/>
        </p:nvSpPr>
        <p:spPr>
          <a:xfrm>
            <a:off x="1800665" y="2264898"/>
            <a:ext cx="5809957" cy="2215991"/>
          </a:xfrm>
          <a:prstGeom prst="rect">
            <a:avLst/>
          </a:prstGeom>
          <a:noFill/>
        </p:spPr>
        <p:txBody>
          <a:bodyPr wrap="square" rtlCol="0">
            <a:spAutoFit/>
          </a:bodyPr>
          <a:lstStyle/>
          <a:p>
            <a:r>
              <a:rPr lang="en-US" sz="2400" b="1" dirty="0"/>
              <a:t>Content:</a:t>
            </a:r>
          </a:p>
          <a:p>
            <a:pPr marL="342900" indent="-342900">
              <a:buFont typeface="Wingdings" panose="05000000000000000000" pitchFamily="2" charset="2"/>
              <a:buChar char="§"/>
            </a:pPr>
            <a:r>
              <a:rPr lang="en-US" sz="2400" dirty="0"/>
              <a:t>Spam filters are an important application of machine learning</a:t>
            </a:r>
          </a:p>
          <a:p>
            <a:pPr marL="342900" indent="-342900">
              <a:buFont typeface="Wingdings" panose="05000000000000000000" pitchFamily="2" charset="2"/>
              <a:buChar char="§"/>
            </a:pPr>
            <a:r>
              <a:rPr lang="en-US" sz="2400" dirty="0"/>
              <a:t>Help detect unwanted and harmful emails</a:t>
            </a:r>
          </a:p>
          <a:p>
            <a:pPr marL="342900" indent="-342900">
              <a:buFont typeface="Wingdings" panose="05000000000000000000" pitchFamily="2" charset="2"/>
              <a:buChar char="§"/>
            </a:pPr>
            <a:r>
              <a:rPr lang="en-US" sz="2400" dirty="0"/>
              <a:t>Improve online security</a:t>
            </a:r>
          </a:p>
          <a:p>
            <a:endParaRPr lang="en-US" dirty="0"/>
          </a:p>
        </p:txBody>
      </p:sp>
      <p:sp>
        <p:nvSpPr>
          <p:cNvPr id="6" name="TextBox 5"/>
          <p:cNvSpPr txBox="1"/>
          <p:nvPr/>
        </p:nvSpPr>
        <p:spPr>
          <a:xfrm>
            <a:off x="1237957" y="5359791"/>
            <a:ext cx="8525021" cy="584775"/>
          </a:xfrm>
          <a:prstGeom prst="rect">
            <a:avLst/>
          </a:prstGeom>
          <a:noFill/>
        </p:spPr>
        <p:txBody>
          <a:bodyPr wrap="square" rtlCol="0">
            <a:spAutoFit/>
          </a:bodyPr>
          <a:lstStyle/>
          <a:p>
            <a:pPr algn="ctr"/>
            <a:r>
              <a:rPr lang="en-US" sz="3200" dirty="0"/>
              <a:t>“Future of Spam Detection using AI”</a:t>
            </a:r>
          </a:p>
        </p:txBody>
      </p:sp>
      <p:pic>
        <p:nvPicPr>
          <p:cNvPr id="7" name="Picture 6"/>
          <p:cNvPicPr/>
          <p:nvPr/>
        </p:nvPicPr>
        <p:blipFill>
          <a:blip r:embed="rId3">
            <a:extLst>
              <a:ext uri="{28A0092B-C50C-407E-A947-70E740481C1C}">
                <a14:useLocalDpi xmlns:a14="http://schemas.microsoft.com/office/drawing/2010/main" val="0"/>
              </a:ext>
            </a:extLst>
          </a:blip>
          <a:stretch>
            <a:fillRect/>
          </a:stretch>
        </p:blipFill>
        <p:spPr>
          <a:xfrm>
            <a:off x="10325685" y="5261317"/>
            <a:ext cx="1875835" cy="1588555"/>
          </a:xfrm>
          <a:prstGeom prst="rect">
            <a:avLst/>
          </a:prstGeom>
          <a:ln>
            <a:noFill/>
          </a:ln>
          <a:effectLst>
            <a:softEdge rad="112500"/>
          </a:effectLst>
        </p:spPr>
      </p:pic>
    </p:spTree>
    <p:extLst>
      <p:ext uri="{BB962C8B-B14F-4D97-AF65-F5344CB8AC3E}">
        <p14:creationId xmlns:p14="http://schemas.microsoft.com/office/powerpoint/2010/main" val="15148928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261</TotalTime>
  <Words>633</Words>
  <Application>Microsoft Office PowerPoint</Application>
  <PresentationFormat>Widescreen</PresentationFormat>
  <Paragraphs>100</Paragraphs>
  <Slides>10</Slides>
  <Notes>8</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10</vt:i4>
      </vt:variant>
    </vt:vector>
  </HeadingPairs>
  <TitlesOfParts>
    <vt:vector size="16" baseType="lpstr">
      <vt:lpstr>Arial</vt:lpstr>
      <vt:lpstr>Bahnschrift Light Condensed</vt:lpstr>
      <vt:lpstr>Calibri</vt:lpstr>
      <vt:lpstr>Calibri Light</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Dell</dc:creator>
  <cp:lastModifiedBy>Dell</cp:lastModifiedBy>
  <cp:revision>15</cp:revision>
  <dcterms:created xsi:type="dcterms:W3CDTF">2026-03-05T14:56:18Z</dcterms:created>
  <dcterms:modified xsi:type="dcterms:W3CDTF">2026-03-10T02:28:50Z</dcterms:modified>
</cp:coreProperties>
</file>